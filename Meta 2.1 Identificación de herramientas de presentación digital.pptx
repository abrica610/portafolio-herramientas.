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Afacad Flux"/>
      <p:regular r:id="rId19"/>
      <p:bold r:id="rId20"/>
    </p:embeddedFont>
    <p:embeddedFont>
      <p:font typeface="Comfortaa"/>
      <p:regular r:id="rId21"/>
      <p:bold r:id="rId22"/>
    </p:embeddedFont>
    <p:embeddedFont>
      <p:font typeface="Afacad Flux SemiBol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facadFlux-bold.fntdata"/><Relationship Id="rId11" Type="http://schemas.openxmlformats.org/officeDocument/2006/relationships/slide" Target="slides/slide6.xml"/><Relationship Id="rId22" Type="http://schemas.openxmlformats.org/officeDocument/2006/relationships/font" Target="fonts/Comfortaa-bold.fntdata"/><Relationship Id="rId10" Type="http://schemas.openxmlformats.org/officeDocument/2006/relationships/slide" Target="slides/slide5.xml"/><Relationship Id="rId21" Type="http://schemas.openxmlformats.org/officeDocument/2006/relationships/font" Target="fonts/Comfortaa-regular.fntdata"/><Relationship Id="rId13" Type="http://schemas.openxmlformats.org/officeDocument/2006/relationships/slide" Target="slides/slide8.xml"/><Relationship Id="rId24" Type="http://schemas.openxmlformats.org/officeDocument/2006/relationships/font" Target="fonts/AfacadFluxSemiBold-bold.fntdata"/><Relationship Id="rId12" Type="http://schemas.openxmlformats.org/officeDocument/2006/relationships/slide" Target="slides/slide7.xml"/><Relationship Id="rId23" Type="http://schemas.openxmlformats.org/officeDocument/2006/relationships/font" Target="fonts/AfacadFlux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facadFlux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11" Type="http://schemas.openxmlformats.org/officeDocument/2006/relationships/image" Target="../media/image30.png"/><Relationship Id="rId10" Type="http://schemas.openxmlformats.org/officeDocument/2006/relationships/image" Target="../media/image21.png"/><Relationship Id="rId12" Type="http://schemas.openxmlformats.org/officeDocument/2006/relationships/image" Target="../media/image20.png"/><Relationship Id="rId9" Type="http://schemas.openxmlformats.org/officeDocument/2006/relationships/image" Target="../media/image27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Relationship Id="rId7" Type="http://schemas.openxmlformats.org/officeDocument/2006/relationships/image" Target="../media/image23.png"/><Relationship Id="rId8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33.png"/><Relationship Id="rId7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4375" y="3495823"/>
            <a:ext cx="3143250" cy="182463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530429" y="1537543"/>
            <a:ext cx="9131141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25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Herramientas Digitales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747837" y="2480518"/>
            <a:ext cx="86963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Clasificación y Características de Presentaciones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972050" y="3829198"/>
            <a:ext cx="2247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Nombre: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145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Roberto abrica</a:t>
            </a:r>
            <a:endParaRPr sz="1200"/>
          </a:p>
        </p:txBody>
      </p:sp>
      <p:sp>
        <p:nvSpPr>
          <p:cNvPr id="89" name="Google Shape;89;p13"/>
          <p:cNvSpPr txBox="1"/>
          <p:nvPr/>
        </p:nvSpPr>
        <p:spPr>
          <a:xfrm>
            <a:off x="4972050" y="4240559"/>
            <a:ext cx="2247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00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Grupo: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lang="en-US" sz="1650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731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972050" y="4651920"/>
            <a:ext cx="22479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Año: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2026</a:t>
            </a:r>
            <a:endParaRPr/>
          </a:p>
        </p:txBody>
      </p:sp>
      <p:pic>
        <p:nvPicPr>
          <p:cNvPr descr="image.png" id="91" name="Google Shape;9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2050" y="386729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72050" y="4278659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72050" y="4690020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3195637" y="2961382"/>
            <a:ext cx="58007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6366F1"/>
                </a:solidFill>
                <a:latin typeface="Comfortaa"/>
                <a:ea typeface="Comfortaa"/>
                <a:cs typeface="Comfortaa"/>
                <a:sym typeface="Comfortaa"/>
              </a:rPr>
              <a:t>Introducción Digital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2286000" y="3732907"/>
            <a:ext cx="7620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Comprendiendo el papel de las herramientas interactivas en la comunicación y educación moderna.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28800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1938932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Una presentación digital es un documento multimedia diseñado para ser proyectado o compartido en pantalla. Sirve como un apoyo visual fundamental en exposiciones.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3087290"/>
            <a:ext cx="52863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Permiten organizar información de manera estética y estructurada mediante texto, imágenes, audio y video, facilitando el proceso de enseñanza y aprendizaje (García-Valcárcel, 2016).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4570809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Fomentan la asimilación de conceptos complejos al combinarlos con estímulos visuales efectivos que captan la atención de la audiencia.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828800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5715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¿Qué es una presentación digital?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71600"/>
            <a:ext cx="5286375" cy="491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371600"/>
            <a:ext cx="5286375" cy="49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952500" y="2901553"/>
            <a:ext cx="47505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366F1"/>
                </a:solidFill>
                <a:latin typeface="Comfortaa"/>
                <a:ea typeface="Comfortaa"/>
                <a:cs typeface="Comfortaa"/>
                <a:sym typeface="Comfortaa"/>
              </a:rPr>
              <a:t>Presentaciones Visuales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952500" y="3349228"/>
            <a:ext cx="45243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Son herramientas asíncronas o síncronas para diseñar diapositivas (ej. Genially, Canva, PowerPoint). Fomentan el apoyo visual directo y la interactividad en tiempo real o diferido.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715125" y="2733972"/>
            <a:ext cx="47505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43F5E"/>
                </a:solidFill>
                <a:latin typeface="Comfortaa"/>
                <a:ea typeface="Comfortaa"/>
                <a:cs typeface="Comfortaa"/>
                <a:sym typeface="Comfortaa"/>
              </a:rPr>
              <a:t>Video Tutoriales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715125" y="3181647"/>
            <a:ext cx="4524375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Herramientas especializadas para grabar pantalla y voz simultáneamente. Son el medio ideal para explicar procesos paso a paso y realizar demostraciones de software (ej. Loom, Screencast-O-Matic).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5715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Clasificación General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1857375" y="2012156"/>
            <a:ext cx="90011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Multimedia: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 Integración fluida de texto, gráficos, audio y animaciones para enriquecer el mensaje y apelar a múltiples sentidos.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1857375" y="2920603"/>
            <a:ext cx="90011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Interactividad: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 Uso de elementos clicables y navegación no lineal que permiten al usuario explorar la información a su propio ritmo (Mayer, 2020).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1857375" y="3829050"/>
            <a:ext cx="90011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Síntesis Visual: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 Información correctamente jerarquizada, priorizando conceptos clave sobre largos y densos bloques de texto.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1857375" y="4737496"/>
            <a:ext cx="90011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293B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Accesibilidad: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 Diseño con estructura clara, alto contraste tipográfico y formatos universalmente fáciles de compartir (enlaces web, PDFs).</a:t>
            </a:r>
            <a:endParaRPr/>
          </a:p>
        </p:txBody>
      </p:sp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040731"/>
            <a:ext cx="381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2949178"/>
            <a:ext cx="2667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3857625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4766071"/>
            <a:ext cx="3048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571500" y="5715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Características Clave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2300525" y="2961382"/>
            <a:ext cx="7590948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6366F1"/>
                </a:solidFill>
                <a:latin typeface="Comfortaa"/>
                <a:ea typeface="Comfortaa"/>
                <a:cs typeface="Comfortaa"/>
                <a:sym typeface="Comfortaa"/>
              </a:rPr>
              <a:t>Herramientas Destacadas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2286000" y="3732907"/>
            <a:ext cx="7620000" cy="7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Exploraremos ejemplos clave en la educación digital: "El Tablón", herramientas de Screencast y plataformas de animación.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/>
        </p:nvSpPr>
        <p:spPr>
          <a:xfrm>
            <a:off x="571500" y="571500"/>
            <a:ext cx="5550693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El Tablón Interactivo</a:t>
            </a:r>
            <a:endParaRPr/>
          </a:p>
        </p:txBody>
      </p:sp>
      <p:pic>
        <p:nvPicPr>
          <p:cNvPr descr="image.png" id="151" name="Google Shape;15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571500" y="2011263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Espacios virtuales como Padlet, Jamboard o el "Tablón" de Google Classroom actúan como pizarras digitales infinitas.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571500" y="2824460"/>
            <a:ext cx="52863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Estas herramientas permiten la colaboración masiva en tiempo real. Múltiples usuarios pueden agregar notas adhesivas (sticky notes), imágenes, videos y enlaces simultáneamente desde distintos dispositivos.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571500" y="4307978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Son excepcionalmente útiles para realizar lluvias de ideas, debates visuales y recopilación grupal de recursos pedagógicos.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29097"/>
            <a:ext cx="3429000" cy="39999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829097"/>
            <a:ext cx="3429000" cy="39999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829097"/>
            <a:ext cx="3429000" cy="39999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05000" y="221962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795813" y="3172122"/>
            <a:ext cx="298037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Loom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866775" y="3619797"/>
            <a:ext cx="283845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Extensión ligera y rápida para grabar pantalla, rostro y voz en un solo clic. Es ideal para dar feedback asíncrono y grabar mensajes rápidos.</a:t>
            </a:r>
            <a:endParaRPr/>
          </a:p>
        </p:txBody>
      </p:sp>
      <p:pic>
        <p:nvPicPr>
          <p:cNvPr descr="image.png" id="166" name="Google Shape;16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21962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4605813" y="3172122"/>
            <a:ext cx="298037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Screencast-O-Matic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4676775" y="3619797"/>
            <a:ext cx="283845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Editor robusto (ahora ScreenPal) que permite grabar, recortar, añadir zoom y efectos especiales para crear tutoriales profesionales detallados.</a:t>
            </a:r>
            <a:endParaRPr/>
          </a:p>
        </p:txBody>
      </p:sp>
      <p:pic>
        <p:nvPicPr>
          <p:cNvPr descr="image.png" id="169" name="Google Shape;169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5000" y="221962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8415813" y="3172122"/>
            <a:ext cx="298037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PowToon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8486775" y="3619797"/>
            <a:ext cx="2838450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Plataforma enfocada en crear presentaciones en formato de video animado interactivo, sin requerir conocimientos técnicos previos.</a:t>
            </a:r>
            <a:endParaRPr/>
          </a:p>
        </p:txBody>
      </p:sp>
      <p:pic>
        <p:nvPicPr>
          <p:cNvPr descr="image.png" id="172" name="Google Shape;172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14550" y="244822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24550" y="244822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53600" y="244822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571500" y="5715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Video y Animación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571500" y="1938932"/>
            <a:ext cx="52863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Los video tutoriales creados con estas herramientas han revolucionado completamente el aprendizaje asíncrono. Permiten al espectador pausar, retroceder y repetir procesos técnicos complejos a su propio ritmo.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571500" y="3422451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Al mostrar simultáneamente el rostro del presentador junto a la grabación de la pantalla principal, estas herramientas humanizan la educación a distancia.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571500" y="4570809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Este contacto visual simulado mejora significativamente la conexión emocional y la retención de la información (Koumi, 2015).</a:t>
            </a:r>
            <a:endParaRPr/>
          </a:p>
        </p:txBody>
      </p:sp>
      <p:pic>
        <p:nvPicPr>
          <p:cNvPr descr="image.png" id="184" name="Google Shape;18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28800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571500" y="5715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Loom y Screencast-O-Matic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9687" y="192405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 txBox="1"/>
          <p:nvPr/>
        </p:nvSpPr>
        <p:spPr>
          <a:xfrm>
            <a:off x="6334125" y="1954113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366F1"/>
                </a:solidFill>
                <a:latin typeface="Comfortaa"/>
                <a:ea typeface="Comfortaa"/>
                <a:cs typeface="Comfortaa"/>
                <a:sym typeface="Comfortaa"/>
              </a:rPr>
              <a:t>Narrativa Visual Dinámica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6334125" y="2401788"/>
            <a:ext cx="52863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PowToon transforma una presentación plana y estática en una experiencia narrativa profundamente envolvente. Utiliza plantillas dinámicas, personajes pre-animados y transiciones muy fluidas.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6334125" y="3885307"/>
            <a:ext cx="5286375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Es una herramienta poderosa para mantener la atención del público mediante el </a:t>
            </a:r>
            <a:r>
              <a:rPr b="0" i="1" lang="en-US" sz="165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storytelling</a:t>
            </a:r>
            <a:r>
              <a:rPr b="0" i="0" lang="en-US" sz="165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 visual. Su interfaz "arrastrar y soltar" democratiza la creación de animaciones, siendo ideal tanto para la educación como para las comunicaciones corporativas modernas.</a:t>
            </a:r>
            <a:endParaRPr/>
          </a:p>
        </p:txBody>
      </p:sp>
      <p:pic>
        <p:nvPicPr>
          <p:cNvPr descr="image.png" id="195" name="Google Shape;19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9687" y="192405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571500" y="5715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Animación con PowToon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3"/>
          <p:cNvSpPr txBox="1"/>
          <p:nvPr/>
        </p:nvSpPr>
        <p:spPr>
          <a:xfrm>
            <a:off x="1971675" y="2389882"/>
            <a:ext cx="8248650" cy="224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6366F1"/>
                </a:solidFill>
                <a:latin typeface="Comfortaa"/>
                <a:ea typeface="Comfortaa"/>
                <a:cs typeface="Comfortaa"/>
                <a:sym typeface="Comfortaa"/>
              </a:rPr>
              <a:t>El diseño multimedia efectivo no trata sobre añadir decoraciones atractivas, sino sobre reducir la carga cognitiva para facilitar el verdadero aprendizaje.</a:t>
            </a:r>
            <a:endParaRPr/>
          </a:p>
        </p:txBody>
      </p:sp>
      <p:sp>
        <p:nvSpPr>
          <p:cNvPr id="203" name="Google Shape;203;p23"/>
          <p:cNvSpPr txBox="1"/>
          <p:nvPr/>
        </p:nvSpPr>
        <p:spPr>
          <a:xfrm>
            <a:off x="4891087" y="4963417"/>
            <a:ext cx="2409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— Richard E. Mayer, 2014</a:t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1304925" y="2389882"/>
            <a:ext cx="2381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0" u="none" cap="none" strike="noStrike">
                <a:solidFill>
                  <a:srgbClr val="F43F5E"/>
                </a:solidFill>
                <a:latin typeface="Comfortaa"/>
                <a:ea typeface="Comfortaa"/>
                <a:cs typeface="Comfortaa"/>
                <a:sym typeface="Comfortaa"/>
              </a:rPr>
              <a:t>"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10648950" y="4153797"/>
            <a:ext cx="2381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0" u="none" cap="none" strike="noStrike">
                <a:solidFill>
                  <a:srgbClr val="F43F5E"/>
                </a:solidFill>
                <a:latin typeface="Comfortaa"/>
                <a:ea typeface="Comfortaa"/>
                <a:cs typeface="Comfortaa"/>
                <a:sym typeface="Comfortaa"/>
              </a:rPr>
              <a:t>"</a:t>
            </a:r>
            <a:endParaRPr/>
          </a:p>
        </p:txBody>
      </p:sp>
      <p:sp>
        <p:nvSpPr>
          <p:cNvPr id="206" name="Google Shape;206;p23"/>
          <p:cNvSpPr txBox="1"/>
          <p:nvPr/>
        </p:nvSpPr>
        <p:spPr>
          <a:xfrm>
            <a:off x="571500" y="5715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Reflexión Final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4"/>
          <p:cNvSpPr txBox="1"/>
          <p:nvPr/>
        </p:nvSpPr>
        <p:spPr>
          <a:xfrm>
            <a:off x="1762125" y="2457598"/>
            <a:ext cx="90963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García-Valcárcel, A. (2016). </a:t>
            </a:r>
            <a:r>
              <a:rPr b="0" i="1" lang="en-US" sz="1575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Recursos digitales para la mejora de la enseñanza y el aprendizaje</a:t>
            </a:r>
            <a:r>
              <a:rPr b="0" i="0" lang="en-US" sz="1575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. Editorial Síntesis.</a:t>
            </a:r>
            <a:endParaRPr/>
          </a:p>
        </p:txBody>
      </p:sp>
      <p:sp>
        <p:nvSpPr>
          <p:cNvPr id="213" name="Google Shape;213;p24"/>
          <p:cNvSpPr txBox="1"/>
          <p:nvPr/>
        </p:nvSpPr>
        <p:spPr>
          <a:xfrm>
            <a:off x="1762125" y="3063329"/>
            <a:ext cx="909637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Koumi, J. (2015). Learning outcomes afforded by self-assessed, segmented video-print combinations. </a:t>
            </a:r>
            <a:r>
              <a:rPr b="0" i="1" lang="en-US" sz="1575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Cogent Education, 2</a:t>
            </a:r>
            <a:r>
              <a:rPr b="0" i="0" lang="en-US" sz="1575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(1), 1085-1090.</a:t>
            </a:r>
            <a:endParaRPr/>
          </a:p>
        </p:txBody>
      </p:sp>
      <p:sp>
        <p:nvSpPr>
          <p:cNvPr id="214" name="Google Shape;214;p24"/>
          <p:cNvSpPr txBox="1"/>
          <p:nvPr/>
        </p:nvSpPr>
        <p:spPr>
          <a:xfrm>
            <a:off x="1762125" y="3989040"/>
            <a:ext cx="90963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Mayer, R. E. (2014). </a:t>
            </a:r>
            <a:r>
              <a:rPr b="0" i="1" lang="en-US" sz="1575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The Cambridge handbook of multimedia learning</a:t>
            </a:r>
            <a:r>
              <a:rPr b="0" i="0" lang="en-US" sz="1575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. Cambridge University Press.</a:t>
            </a:r>
            <a:endParaRPr/>
          </a:p>
        </p:txBody>
      </p:sp>
      <p:sp>
        <p:nvSpPr>
          <p:cNvPr id="215" name="Google Shape;215;p24"/>
          <p:cNvSpPr txBox="1"/>
          <p:nvPr/>
        </p:nvSpPr>
        <p:spPr>
          <a:xfrm>
            <a:off x="1762125" y="4594770"/>
            <a:ext cx="90963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Mayer, R. E. (2020). </a:t>
            </a:r>
            <a:r>
              <a:rPr b="0" i="1" lang="en-US" sz="1575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Multimedia learning</a:t>
            </a:r>
            <a:r>
              <a:rPr b="0" i="0" lang="en-US" sz="1575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 (3rd ed.). Cambridge University Press.</a:t>
            </a:r>
            <a:endParaRPr/>
          </a:p>
        </p:txBody>
      </p:sp>
      <p:sp>
        <p:nvSpPr>
          <p:cNvPr id="216" name="Google Shape;216;p24"/>
          <p:cNvSpPr txBox="1"/>
          <p:nvPr/>
        </p:nvSpPr>
        <p:spPr>
          <a:xfrm>
            <a:off x="571500" y="5715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Referencias Bibliográficas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5"/>
          <p:cNvSpPr/>
          <p:nvPr/>
        </p:nvSpPr>
        <p:spPr>
          <a:xfrm>
            <a:off x="571500" y="216515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571500" y="294992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571500" y="373469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571500" y="294039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571500" y="294039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571500" y="37251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/>
          <p:nvPr/>
        </p:nvSpPr>
        <p:spPr>
          <a:xfrm>
            <a:off x="571500" y="37251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571500" y="450993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5"/>
          <p:cNvSpPr/>
          <p:nvPr/>
        </p:nvSpPr>
        <p:spPr>
          <a:xfrm>
            <a:off x="571500" y="450993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1" name="Google Shape;23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145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/>
        </p:nvSpPr>
        <p:spPr>
          <a:xfrm>
            <a:off x="1666875" y="230802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https://png.pngtree.com/thumb_back/fw800/background/20251229/pngtree-laptop-displaying-colorful-stock-charts-and-graphs-on-desk-with-coffee-image_20815086.webp</a:t>
            </a:r>
            <a:endParaRPr/>
          </a:p>
        </p:txBody>
      </p:sp>
      <p:sp>
        <p:nvSpPr>
          <p:cNvPr id="233" name="Google Shape;233;p25"/>
          <p:cNvSpPr txBox="1"/>
          <p:nvPr/>
        </p:nvSpPr>
        <p:spPr>
          <a:xfrm>
            <a:off x="1666875" y="255374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pngtree.com</a:t>
            </a:r>
            <a:endParaRPr/>
          </a:p>
        </p:txBody>
      </p:sp>
      <p:pic>
        <p:nvPicPr>
          <p:cNvPr descr="image.png" id="234" name="Google Shape;23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9934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/>
        </p:nvSpPr>
        <p:spPr>
          <a:xfrm>
            <a:off x="1666875" y="309279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https://cms.vibe.dev/wp-content/uploads/2025/03/miro-digital-whiteboard-example-1-1024x526.png</a:t>
            </a:r>
            <a:endParaRPr/>
          </a:p>
        </p:txBody>
      </p:sp>
      <p:sp>
        <p:nvSpPr>
          <p:cNvPr id="236" name="Google Shape;236;p25"/>
          <p:cNvSpPr txBox="1"/>
          <p:nvPr/>
        </p:nvSpPr>
        <p:spPr>
          <a:xfrm>
            <a:off x="1666875" y="333851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vibe.us</a:t>
            </a:r>
            <a:endParaRPr/>
          </a:p>
        </p:txBody>
      </p:sp>
      <p:pic>
        <p:nvPicPr>
          <p:cNvPr descr="image.png" id="237" name="Google Shape;23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8411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5"/>
          <p:cNvSpPr txBox="1"/>
          <p:nvPr/>
        </p:nvSpPr>
        <p:spPr>
          <a:xfrm>
            <a:off x="1666875" y="387756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https://png.pngtree.com/thumb_back/fw800/background/20251218/pngtree-home-office-setup-with-microphone-laptop-and-ring-light-image_20753963.webp</a:t>
            </a:r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1666875" y="412328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pngtree.com</a:t>
            </a:r>
            <a:endParaRPr/>
          </a:p>
        </p:txBody>
      </p:sp>
      <p:pic>
        <p:nvPicPr>
          <p:cNvPr descr="image.png" id="240" name="Google Shape;24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76800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 txBox="1"/>
          <p:nvPr/>
        </p:nvSpPr>
        <p:spPr>
          <a:xfrm>
            <a:off x="1666875" y="466233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https://images.rawpixel.com/image_400/cHJpdmF0ZS9sci9pbWFnZXMvd2Vic2l0ZS8yMDI0LTA4L3dvcmxkZmFjZXNsYWJfYWR2ZXJ0aXNpbmdfc2hvb3Rfb2ZfYV9zaWRlX3ZpZXdfb2ZfYV9sYXB0b3Bfd2l0aF80NWQxMjU2Mi04MDdhLTQ2NzktYTM5ZS1kZTRmZWIwZTBiM2RfMS5qcGc.jpg</a:t>
            </a:r>
            <a:endParaRPr/>
          </a:p>
        </p:txBody>
      </p:sp>
      <p:sp>
        <p:nvSpPr>
          <p:cNvPr id="242" name="Google Shape;242;p25"/>
          <p:cNvSpPr txBox="1"/>
          <p:nvPr/>
        </p:nvSpPr>
        <p:spPr>
          <a:xfrm>
            <a:off x="1666875" y="510614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www.rawpixel.com</a:t>
            </a:r>
            <a:endParaRPr/>
          </a:p>
        </p:txBody>
      </p:sp>
      <p:sp>
        <p:nvSpPr>
          <p:cNvPr id="243" name="Google Shape;243;p25"/>
          <p:cNvSpPr txBox="1"/>
          <p:nvPr/>
        </p:nvSpPr>
        <p:spPr>
          <a:xfrm>
            <a:off x="571500" y="57150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4155"/>
                </a:solidFill>
                <a:latin typeface="Comfortaa"/>
                <a:ea typeface="Comfortaa"/>
                <a:cs typeface="Comfortaa"/>
                <a:sym typeface="Comfortaa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